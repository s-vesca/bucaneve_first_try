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5E842B-B989-7DCE-7B05-87829B0B4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ABFB4C7-942D-B2BB-6AA7-913A7F7A6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ECCC716-C4D6-DE40-4F89-4C96F6B8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57FDCC-1633-A261-D7FC-85A8CA2E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B9F4E9-EDE2-17B1-18AC-A8B6AE41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112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75D254-A972-9305-CDB4-B5F8B57FC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BED9B2-E2F9-B3DB-6BAE-BBC786145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CE1CDA-C0A0-87B4-6D13-31027289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06F5A9-E6B6-0E8A-A09A-051EDAF5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2944B0-F150-2B4D-A526-5A097A27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4955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B72ECD-2877-0EC3-738F-0E759CCA0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742CBF-F748-E13C-D311-7738B129C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6F76A6-D070-0E54-4904-5B041903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7BFE62-21BF-5059-F9D2-4EF54707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BA3C73-00B2-9200-1DA7-E019E523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829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3AAA31-D574-D92B-75D5-84A10D057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27622B-3C9F-96A6-7342-86FEE7324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5F2D52F-4A01-B443-E784-558642687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03DE01B-8FF8-AA09-90E1-7BE7FE03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5679B4C-2636-FA7E-4159-022ABAB5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7910161-2609-26EB-80D0-6677147B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0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6B7221-F23B-C640-6126-00A7B4E4D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54E6C55-5806-F0FE-7F91-C15C65F31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A52628-4CB6-C975-7BB0-59DB59222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7E3A94E-0D8E-B8CD-CBE7-8176C89EC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420B1D7-8A1E-1F6B-7629-8C9E759B4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2905F6B-28E8-FEAD-DDB0-BB4BED1D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D93CB4-3FDF-5660-ACD1-3BA607C8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2212E45-A3A4-C378-2D94-D37B116A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83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7CB543-48A1-A89F-3872-5CAAC143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7A4B97B-4D38-8B55-8A5E-B40D4AC1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B370C73-6A30-4BE6-9F3A-934AECA6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39D4B55-64E6-5A11-F8B7-BC8259A4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312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FC26CA4-1339-10C8-0894-819337C5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28A09E9-B1AF-B16E-B611-0C153D3D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B99477D-8A64-5357-DD82-B3646881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694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A4883F-0C62-5FA6-7B3B-EF415C4F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4D9BF9-DCC2-F1FB-21E8-73696FEF8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33EA3E0-EBB7-2572-23CA-6A8C68DAB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58EA893-451E-C811-D51A-CF210924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ED858D5-6FF7-6C22-C005-50388108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89953AC-CEDB-34BF-8398-E7FFE86D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74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92480C-4C97-5266-A831-D653B4A5A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E1E66A1-8FC8-CA2B-E79E-5C6E71926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B4531EE-9715-BB22-F7E1-291C5C652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1BF8064-82E7-5213-CB1A-372A55D14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141140-68C6-7D15-FE56-3C2CBE773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4F85619-3EE7-88E7-6B39-BCA4D52B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413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97DDEC-BD9B-FEA1-B0AF-A95131B9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80936B6-FA53-8199-A9A5-54F14EF33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BA59A2-308E-7BEE-F95D-12E54151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2C5A62-715D-3E75-21C6-3611929BC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540A22-52DE-788C-0DA2-5CEBABEF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64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FA25B97-A822-19A4-A636-4F6519633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C562E93-7CE7-7C8C-B8A1-45D155B8B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95C014-0F1E-6A1E-A6C7-3ED51D868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A59D19-3B96-C5ED-5996-612F299F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C1DC6E-9B65-EC9B-822B-189D6A10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488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9DC140B-A17D-AE0C-C505-D9376D623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3767079-8D45-AC68-B0B6-5F227CE95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1D65FB-7335-7585-D246-CE57574EF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DA7C7-3C20-48C5-BF42-2B6AE74D14EE}" type="datetimeFigureOut">
              <a:rPr lang="it-IT" smtClean="0"/>
              <a:t>14/09/2026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3B1233-0569-85BB-ECBC-35110F505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30B64B-69D7-3A45-F70E-C60252E30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5A7B8-E3F5-4656-8E39-11EBCCAAA8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60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130275-E1B3-0036-F1A5-6F84D9B53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1544" y="658367"/>
            <a:ext cx="4248912" cy="986219"/>
          </a:xfrm>
        </p:spPr>
        <p:txBody>
          <a:bodyPr/>
          <a:lstStyle/>
          <a:p>
            <a:r>
              <a:rPr lang="it-IT" dirty="0"/>
              <a:t>Sensore IPS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829C21F-EC25-FBB7-FE98-10471B779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75" y="2234371"/>
            <a:ext cx="4756950" cy="3965262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DC4ED99-937D-B0CB-48A1-E84D675D8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646" y="2445104"/>
            <a:ext cx="4756950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3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4384B9-B180-4283-E345-9913774D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Current </a:t>
            </a:r>
            <a:r>
              <a:rPr lang="it-IT" dirty="0" err="1"/>
              <a:t>Stackup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9EEF7C7-0702-F78B-B718-B7E2CA111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25" y="1843659"/>
            <a:ext cx="8591550" cy="382905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2464B01B-9372-3FC8-0180-1CA220944AEC}"/>
              </a:ext>
            </a:extLst>
          </p:cNvPr>
          <p:cNvGrpSpPr/>
          <p:nvPr/>
        </p:nvGrpSpPr>
        <p:grpSpPr>
          <a:xfrm>
            <a:off x="365761" y="3352800"/>
            <a:ext cx="4196714" cy="1255776"/>
            <a:chOff x="365761" y="3352800"/>
            <a:chExt cx="4196714" cy="1255776"/>
          </a:xfrm>
        </p:grpSpPr>
        <p:cxnSp>
          <p:nvCxnSpPr>
            <p:cNvPr id="7" name="Connettore 2 6">
              <a:extLst>
                <a:ext uri="{FF2B5EF4-FFF2-40B4-BE49-F238E27FC236}">
                  <a16:creationId xmlns:a16="http://schemas.microsoft.com/office/drawing/2014/main" id="{9CE91A8A-C3BB-04E1-21CC-1C52F3AE1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5224" y="3352800"/>
              <a:ext cx="1627251" cy="54502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63C409C4-9AE9-E6D8-64DD-75CF2699F89A}"/>
                </a:ext>
              </a:extLst>
            </p:cNvPr>
            <p:cNvCxnSpPr>
              <a:cxnSpLocks/>
            </p:cNvCxnSpPr>
            <p:nvPr/>
          </p:nvCxnSpPr>
          <p:spPr>
            <a:xfrm>
              <a:off x="2935224" y="4050792"/>
              <a:ext cx="1618488" cy="5577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25D89669-D22F-ED3C-4AA7-863021169540}"/>
                </a:ext>
              </a:extLst>
            </p:cNvPr>
            <p:cNvSpPr txBox="1"/>
            <p:nvPr/>
          </p:nvSpPr>
          <p:spPr>
            <a:xfrm>
              <a:off x="365761" y="3758184"/>
              <a:ext cx="25694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 err="1">
                  <a:solidFill>
                    <a:srgbClr val="FF0000"/>
                  </a:solidFill>
                </a:rPr>
                <a:t>Coupled</a:t>
              </a:r>
              <a:r>
                <a:rPr lang="it-IT" dirty="0">
                  <a:solidFill>
                    <a:srgbClr val="FF0000"/>
                  </a:solidFill>
                </a:rPr>
                <a:t> via pin-strips</a:t>
              </a:r>
            </a:p>
          </p:txBody>
        </p:sp>
      </p:grp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680DE83-5DEE-DBC0-B26B-D1F29B0EAD98}"/>
              </a:ext>
            </a:extLst>
          </p:cNvPr>
          <p:cNvSpPr txBox="1"/>
          <p:nvPr/>
        </p:nvSpPr>
        <p:spPr>
          <a:xfrm>
            <a:off x="1650492" y="5798974"/>
            <a:ext cx="5605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Cost: _____________________ €/$</a:t>
            </a:r>
          </a:p>
          <a:p>
            <a:r>
              <a:rPr lang="it-IT" dirty="0"/>
              <a:t>(2 x 2 </a:t>
            </a:r>
            <a:r>
              <a:rPr lang="it-IT" dirty="0" err="1"/>
              <a:t>layer</a:t>
            </a:r>
            <a:r>
              <a:rPr lang="it-IT" dirty="0"/>
              <a:t> boards with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components</a:t>
            </a:r>
            <a:r>
              <a:rPr lang="it-IT" dirty="0"/>
              <a:t> on top </a:t>
            </a:r>
            <a:r>
              <a:rPr lang="it-IT" dirty="0" err="1"/>
              <a:t>layer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252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9CD750-A633-DBB7-B4EE-E9EEF7E55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 err="1"/>
              <a:t>Proposed</a:t>
            </a:r>
            <a:r>
              <a:rPr lang="it-IT" dirty="0"/>
              <a:t> </a:t>
            </a:r>
            <a:r>
              <a:rPr lang="it-IT" dirty="0" err="1"/>
              <a:t>Stackup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77FEEFE-3418-E82E-F0C1-1898D7544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" t="2401" r="689" b="2401"/>
          <a:stretch>
            <a:fillRect/>
          </a:stretch>
        </p:blipFill>
        <p:spPr>
          <a:xfrm>
            <a:off x="1527048" y="1801369"/>
            <a:ext cx="9153144" cy="3255264"/>
          </a:xfrm>
          <a:prstGeom prst="rect">
            <a:avLst/>
          </a:prstGeom>
        </p:spPr>
      </p:pic>
      <p:grpSp>
        <p:nvGrpSpPr>
          <p:cNvPr id="26" name="Gruppo 25">
            <a:extLst>
              <a:ext uri="{FF2B5EF4-FFF2-40B4-BE49-F238E27FC236}">
                <a16:creationId xmlns:a16="http://schemas.microsoft.com/office/drawing/2014/main" id="{235FC207-2306-4661-7FE6-A30793ED681E}"/>
              </a:ext>
            </a:extLst>
          </p:cNvPr>
          <p:cNvGrpSpPr/>
          <p:nvPr/>
        </p:nvGrpSpPr>
        <p:grpSpPr>
          <a:xfrm>
            <a:off x="2898648" y="3333750"/>
            <a:ext cx="5264277" cy="2172724"/>
            <a:chOff x="2898648" y="3333750"/>
            <a:chExt cx="5264277" cy="2172724"/>
          </a:xfrm>
        </p:grpSpPr>
        <p:cxnSp>
          <p:nvCxnSpPr>
            <p:cNvPr id="7" name="Connettore 2 6">
              <a:extLst>
                <a:ext uri="{FF2B5EF4-FFF2-40B4-BE49-F238E27FC236}">
                  <a16:creationId xmlns:a16="http://schemas.microsoft.com/office/drawing/2014/main" id="{75021CCA-352C-A372-44DD-8991D812E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1688" y="3333750"/>
              <a:ext cx="3801237" cy="198805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753DFA47-6BF2-EAFB-AD77-6EED1B120341}"/>
                </a:ext>
              </a:extLst>
            </p:cNvPr>
            <p:cNvSpPr txBox="1"/>
            <p:nvPr/>
          </p:nvSpPr>
          <p:spPr>
            <a:xfrm>
              <a:off x="2898648" y="5137142"/>
              <a:ext cx="146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 err="1">
                  <a:solidFill>
                    <a:srgbClr val="00B050"/>
                  </a:solidFill>
                </a:rPr>
                <a:t>Maximize</a:t>
              </a:r>
              <a:r>
                <a:rPr lang="it-IT" dirty="0">
                  <a:solidFill>
                    <a:srgbClr val="00B050"/>
                  </a:solidFill>
                </a:rPr>
                <a:t> (?)</a:t>
              </a:r>
            </a:p>
          </p:txBody>
        </p: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CABC4A6D-66B5-6820-C769-D08BEEEA972E}"/>
              </a:ext>
            </a:extLst>
          </p:cNvPr>
          <p:cNvGrpSpPr/>
          <p:nvPr/>
        </p:nvGrpSpPr>
        <p:grpSpPr>
          <a:xfrm>
            <a:off x="8421624" y="2404872"/>
            <a:ext cx="3706368" cy="2026289"/>
            <a:chOff x="8421624" y="2404872"/>
            <a:chExt cx="3706368" cy="2026289"/>
          </a:xfrm>
        </p:grpSpPr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6407C8FE-4CA6-D775-EF86-799130B706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21624" y="2404872"/>
              <a:ext cx="2243328" cy="18013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24CF3867-CA1C-D8E0-1B86-FC07E7E60E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21624" y="4206240"/>
              <a:ext cx="2243328" cy="13705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FA209C50-7D5E-4530-1D5F-A7C10574EBBC}"/>
                </a:ext>
              </a:extLst>
            </p:cNvPr>
            <p:cNvSpPr txBox="1"/>
            <p:nvPr/>
          </p:nvSpPr>
          <p:spPr>
            <a:xfrm>
              <a:off x="10664952" y="4061829"/>
              <a:ext cx="146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 err="1">
                  <a:solidFill>
                    <a:srgbClr val="00B050"/>
                  </a:solidFill>
                </a:rPr>
                <a:t>Minimize</a:t>
              </a:r>
              <a:r>
                <a:rPr lang="it-IT" dirty="0">
                  <a:solidFill>
                    <a:srgbClr val="00B050"/>
                  </a:solidFill>
                </a:rPr>
                <a:t> (?)</a:t>
              </a:r>
            </a:p>
          </p:txBody>
        </p:sp>
      </p:grp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06ACADE-522E-237F-3346-97F3F9D65F7E}"/>
              </a:ext>
            </a:extLst>
          </p:cNvPr>
          <p:cNvSpPr txBox="1"/>
          <p:nvPr/>
        </p:nvSpPr>
        <p:spPr>
          <a:xfrm>
            <a:off x="1650492" y="5798974"/>
            <a:ext cx="5317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Cost: _____________________ €/$</a:t>
            </a:r>
          </a:p>
          <a:p>
            <a:r>
              <a:rPr lang="it-IT" dirty="0"/>
              <a:t>(1 x 4 </a:t>
            </a:r>
            <a:r>
              <a:rPr lang="it-IT" dirty="0" err="1"/>
              <a:t>layer</a:t>
            </a:r>
            <a:r>
              <a:rPr lang="it-IT" dirty="0"/>
              <a:t> board with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components</a:t>
            </a:r>
            <a:r>
              <a:rPr lang="it-IT" dirty="0"/>
              <a:t> on top </a:t>
            </a:r>
            <a:r>
              <a:rPr lang="it-IT" dirty="0" err="1"/>
              <a:t>layer</a:t>
            </a:r>
            <a:r>
              <a:rPr lang="it-IT" dirty="0"/>
              <a:t> + </a:t>
            </a:r>
          </a:p>
          <a:p>
            <a:r>
              <a:rPr lang="it-IT" dirty="0"/>
              <a:t>Blind </a:t>
            </a:r>
            <a:r>
              <a:rPr lang="it-IT" dirty="0" err="1"/>
              <a:t>vias</a:t>
            </a:r>
            <a:r>
              <a:rPr lang="it-IT" dirty="0"/>
              <a:t> Top – Inner 1 + Blind </a:t>
            </a:r>
            <a:r>
              <a:rPr lang="it-IT" dirty="0" err="1"/>
              <a:t>vias</a:t>
            </a:r>
            <a:r>
              <a:rPr lang="it-IT" dirty="0"/>
              <a:t> Inner 2 - Bottom)</a:t>
            </a:r>
          </a:p>
        </p:txBody>
      </p:sp>
    </p:spTree>
    <p:extLst>
      <p:ext uri="{BB962C8B-B14F-4D97-AF65-F5344CB8AC3E}">
        <p14:creationId xmlns:p14="http://schemas.microsoft.com/office/powerpoint/2010/main" val="100967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37B4D7-C87B-D1BE-C0C8-23B24209783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/>
              <a:t>Proposed Stackup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00377EC-0AE3-F4C5-6F0D-EF495D32E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" t="1345" r="729" b="2173"/>
          <a:stretch>
            <a:fillRect/>
          </a:stretch>
        </p:blipFill>
        <p:spPr>
          <a:xfrm>
            <a:off x="2378964" y="1298448"/>
            <a:ext cx="7434072" cy="4261104"/>
          </a:xfrm>
          <a:prstGeom prst="rect">
            <a:avLst/>
          </a:prstGeom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DAAACD6-5545-B4A7-71C0-CCDF9FBCAD5C}"/>
              </a:ext>
            </a:extLst>
          </p:cNvPr>
          <p:cNvCxnSpPr>
            <a:cxnSpLocks/>
          </p:cNvCxnSpPr>
          <p:nvPr/>
        </p:nvCxnSpPr>
        <p:spPr>
          <a:xfrm flipH="1">
            <a:off x="9098280" y="2569464"/>
            <a:ext cx="10332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82E4D52-4E55-F78D-B6C5-3B7044641FD5}"/>
              </a:ext>
            </a:extLst>
          </p:cNvPr>
          <p:cNvSpPr txBox="1"/>
          <p:nvPr/>
        </p:nvSpPr>
        <p:spPr>
          <a:xfrm>
            <a:off x="10268712" y="2368296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B050"/>
                </a:solidFill>
              </a:rPr>
              <a:t>Full GND Plane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C32EE734-1F47-7CA0-9D55-ACE20E27CEE3}"/>
              </a:ext>
            </a:extLst>
          </p:cNvPr>
          <p:cNvCxnSpPr>
            <a:cxnSpLocks/>
          </p:cNvCxnSpPr>
          <p:nvPr/>
        </p:nvCxnSpPr>
        <p:spPr>
          <a:xfrm flipH="1">
            <a:off x="9098280" y="4303776"/>
            <a:ext cx="10332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D667EE5-3EED-61A5-5F22-882F03BC75C9}"/>
              </a:ext>
            </a:extLst>
          </p:cNvPr>
          <p:cNvSpPr txBox="1"/>
          <p:nvPr/>
        </p:nvSpPr>
        <p:spPr>
          <a:xfrm>
            <a:off x="10268712" y="3980610"/>
            <a:ext cx="1719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B050"/>
                </a:solidFill>
              </a:rPr>
              <a:t>Avoid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 err="1">
                <a:solidFill>
                  <a:srgbClr val="00B050"/>
                </a:solidFill>
              </a:rPr>
              <a:t>shielding</a:t>
            </a:r>
            <a:r>
              <a:rPr lang="it-IT" dirty="0">
                <a:solidFill>
                  <a:srgbClr val="00B050"/>
                </a:solidFill>
              </a:rPr>
              <a:t> of the coils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56057A6-4329-4154-9D04-5695BBD18D7C}"/>
              </a:ext>
            </a:extLst>
          </p:cNvPr>
          <p:cNvSpPr txBox="1"/>
          <p:nvPr/>
        </p:nvSpPr>
        <p:spPr>
          <a:xfrm>
            <a:off x="2276856" y="5797296"/>
            <a:ext cx="8394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considered</a:t>
            </a:r>
            <a:r>
              <a:rPr lang="it-IT" dirty="0"/>
              <a:t> an </a:t>
            </a:r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stackup</a:t>
            </a:r>
            <a:r>
              <a:rPr lang="it-IT" dirty="0"/>
              <a:t>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feasible</a:t>
            </a:r>
            <a:r>
              <a:rPr lang="it-IT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6159184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84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di Office</vt:lpstr>
      <vt:lpstr>Sensore IPS</vt:lpstr>
      <vt:lpstr>Current Stackup</vt:lpstr>
      <vt:lpstr>Proposed Stackup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Vesca</dc:creator>
  <cp:lastModifiedBy>Simone Vesca</cp:lastModifiedBy>
  <cp:revision>2</cp:revision>
  <dcterms:created xsi:type="dcterms:W3CDTF">2026-09-14T06:10:30Z</dcterms:created>
  <dcterms:modified xsi:type="dcterms:W3CDTF">2026-09-14T07:11:35Z</dcterms:modified>
</cp:coreProperties>
</file>